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60EB09-BE68-4953-B63D-00E732A458EC}" v="1" dt="2026-08-03T04:34:57.1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gina Fabian Ortiz Lopez" userId="c2aa418a4ce6832f" providerId="LiveId" clId="{1F662364-3BCD-4FD2-8C18-3799B39319C3}"/>
    <pc:docChg chg="custSel addSld delSld modSld">
      <pc:chgData name="Regina Fabian Ortiz Lopez" userId="c2aa418a4ce6832f" providerId="LiveId" clId="{1F662364-3BCD-4FD2-8C18-3799B39319C3}" dt="2026-08-03T04:35:30.547" v="47" actId="122"/>
      <pc:docMkLst>
        <pc:docMk/>
      </pc:docMkLst>
      <pc:sldChg chg="addSp modSp mod">
        <pc:chgData name="Regina Fabian Ortiz Lopez" userId="c2aa418a4ce6832f" providerId="LiveId" clId="{1F662364-3BCD-4FD2-8C18-3799B39319C3}" dt="2026-08-03T04:32:23.328" v="44" actId="313"/>
        <pc:sldMkLst>
          <pc:docMk/>
          <pc:sldMk cId="0" sldId="256"/>
        </pc:sldMkLst>
        <pc:spChg chg="add mod">
          <ac:chgData name="Regina Fabian Ortiz Lopez" userId="c2aa418a4ce6832f" providerId="LiveId" clId="{1F662364-3BCD-4FD2-8C18-3799B39319C3}" dt="2026-08-03T04:32:23.328" v="44" actId="313"/>
          <ac:spMkLst>
            <pc:docMk/>
            <pc:sldMk cId="0" sldId="256"/>
            <ac:spMk id="7" creationId="{4D245E1C-CB02-19EC-FF72-E06D38D9554D}"/>
          </ac:spMkLst>
        </pc:spChg>
      </pc:sldChg>
      <pc:sldChg chg="del">
        <pc:chgData name="Regina Fabian Ortiz Lopez" userId="c2aa418a4ce6832f" providerId="LiveId" clId="{1F662364-3BCD-4FD2-8C18-3799B39319C3}" dt="2026-08-03T04:35:07.280" v="46" actId="47"/>
        <pc:sldMkLst>
          <pc:docMk/>
          <pc:sldMk cId="0" sldId="260"/>
        </pc:sldMkLst>
      </pc:sldChg>
      <pc:sldChg chg="add setBg">
        <pc:chgData name="Regina Fabian Ortiz Lopez" userId="c2aa418a4ce6832f" providerId="LiveId" clId="{1F662364-3BCD-4FD2-8C18-3799B39319C3}" dt="2026-08-03T04:34:57.182" v="45"/>
        <pc:sldMkLst>
          <pc:docMk/>
          <pc:sldMk cId="0" sldId="261"/>
        </pc:sldMkLst>
      </pc:sldChg>
      <pc:sldChg chg="add setBg">
        <pc:chgData name="Regina Fabian Ortiz Lopez" userId="c2aa418a4ce6832f" providerId="LiveId" clId="{1F662364-3BCD-4FD2-8C18-3799B39319C3}" dt="2026-08-03T04:34:57.182" v="45"/>
        <pc:sldMkLst>
          <pc:docMk/>
          <pc:sldMk cId="0" sldId="262"/>
        </pc:sldMkLst>
      </pc:sldChg>
      <pc:sldChg chg="modSp add mod setBg">
        <pc:chgData name="Regina Fabian Ortiz Lopez" userId="c2aa418a4ce6832f" providerId="LiveId" clId="{1F662364-3BCD-4FD2-8C18-3799B39319C3}" dt="2026-08-03T04:35:30.547" v="47" actId="122"/>
        <pc:sldMkLst>
          <pc:docMk/>
          <pc:sldMk cId="0" sldId="263"/>
        </pc:sldMkLst>
        <pc:spChg chg="mod">
          <ac:chgData name="Regina Fabian Ortiz Lopez" userId="c2aa418a4ce6832f" providerId="LiveId" clId="{1F662364-3BCD-4FD2-8C18-3799B39319C3}" dt="2026-08-03T04:35:30.547" v="47" actId="122"/>
          <ac:spMkLst>
            <pc:docMk/>
            <pc:sldMk cId="0" sldId="263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987" y="1339453"/>
            <a:ext cx="3248025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60433" y="1987153"/>
            <a:ext cx="9071133" cy="140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sz="4800" b="1" i="0" u="none">
                <a:solidFill>
                  <a:srgbClr val="FFFFFF"/>
                </a:solidFill>
                <a:latin typeface="Space Grotesk"/>
              </a:rPr>
              <a:t>Sistema Inteligente para la</a:t>
            </a:r>
            <a:r>
              <a:t>
</a:t>
            </a:r>
            <a:r>
              <a:rPr sz="4800" b="1" i="0" u="none">
                <a:solidFill>
                  <a:srgbClr val="06B6D4"/>
                </a:solidFill>
                <a:latin typeface="Space Grotesk"/>
              </a:rPr>
              <a:t>Detección de Ataques de 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865364"/>
            <a:ext cx="8572500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 dirty="0">
                <a:solidFill>
                  <a:srgbClr val="94A3B8"/>
                </a:solidFill>
                <a:latin typeface="Inter"/>
              </a:rPr>
              <a:t>Mi </a:t>
            </a:r>
            <a:r>
              <a:rPr sz="1800" b="0" i="0" u="none" dirty="0" err="1">
                <a:solidFill>
                  <a:srgbClr val="94A3B8"/>
                </a:solidFill>
                <a:latin typeface="Inter"/>
              </a:rPr>
              <a:t>proyecto</a:t>
            </a:r>
            <a:r>
              <a:rPr sz="18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Inter"/>
              </a:rPr>
              <a:t>consiste</a:t>
            </a:r>
            <a:r>
              <a:rPr sz="18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Inter"/>
              </a:rPr>
              <a:t>en</a:t>
            </a:r>
            <a:r>
              <a:rPr sz="18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Inter"/>
              </a:rPr>
              <a:t>una</a:t>
            </a:r>
            <a:r>
              <a:rPr sz="18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Inter"/>
              </a:rPr>
              <a:t>solución</a:t>
            </a:r>
            <a:r>
              <a:rPr sz="1800" b="0" i="0" u="none" dirty="0">
                <a:solidFill>
                  <a:srgbClr val="94A3B8"/>
                </a:solidFill>
                <a:latin typeface="Inter"/>
              </a:rPr>
              <a:t> de </a:t>
            </a:r>
            <a:r>
              <a:rPr sz="1800" b="0" i="0" u="none" dirty="0" err="1">
                <a:solidFill>
                  <a:srgbClr val="94A3B8"/>
                </a:solidFill>
                <a:latin typeface="Inter"/>
              </a:rPr>
              <a:t>inteligencia</a:t>
            </a:r>
            <a:r>
              <a:rPr sz="1800" b="0" i="0" u="none" dirty="0">
                <a:solidFill>
                  <a:srgbClr val="94A3B8"/>
                </a:solidFill>
                <a:latin typeface="Inter"/>
              </a:rPr>
              <a:t> artificial para </a:t>
            </a:r>
            <a:r>
              <a:rPr sz="1800" b="0" i="0" u="none" dirty="0" err="1">
                <a:solidFill>
                  <a:srgbClr val="94A3B8"/>
                </a:solidFill>
                <a:latin typeface="Inter"/>
              </a:rPr>
              <a:t>detectar</a:t>
            </a:r>
            <a:r>
              <a:rPr sz="18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Inter"/>
              </a:rPr>
              <a:t>posibles</a:t>
            </a:r>
            <a:r>
              <a:rPr sz="18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Inter"/>
              </a:rPr>
              <a:t>ataques</a:t>
            </a:r>
            <a:r>
              <a:rPr sz="1800" b="0" i="0" u="none" dirty="0">
                <a:solidFill>
                  <a:srgbClr val="94A3B8"/>
                </a:solidFill>
                <a:latin typeface="Inter"/>
              </a:rPr>
              <a:t> de red </a:t>
            </a:r>
            <a:r>
              <a:rPr sz="1800" b="0" i="0" u="none" dirty="0" err="1">
                <a:solidFill>
                  <a:srgbClr val="94A3B8"/>
                </a:solidFill>
                <a:latin typeface="Inter"/>
              </a:rPr>
              <a:t>utilizando</a:t>
            </a:r>
            <a:r>
              <a:rPr sz="1800" b="0" i="0" u="none" dirty="0">
                <a:solidFill>
                  <a:srgbClr val="94A3B8"/>
                </a:solidFill>
                <a:latin typeface="Inter"/>
              </a:rPr>
              <a:t> Machine Learning. Durante el </a:t>
            </a:r>
            <a:r>
              <a:rPr sz="1800" b="0" i="0" u="none" dirty="0" err="1">
                <a:solidFill>
                  <a:srgbClr val="94A3B8"/>
                </a:solidFill>
                <a:latin typeface="Inter"/>
              </a:rPr>
              <a:t>desarrollo</a:t>
            </a:r>
            <a:r>
              <a:rPr sz="1800" b="0" i="0" u="none" dirty="0">
                <a:solidFill>
                  <a:srgbClr val="94A3B8"/>
                </a:solidFill>
                <a:latin typeface="Inter"/>
              </a:rPr>
              <a:t> también se </a:t>
            </a:r>
            <a:r>
              <a:rPr sz="1800" b="0" i="0" u="none" dirty="0" err="1">
                <a:solidFill>
                  <a:srgbClr val="94A3B8"/>
                </a:solidFill>
                <a:latin typeface="Inter"/>
              </a:rPr>
              <a:t>implementaron</a:t>
            </a:r>
            <a:r>
              <a:rPr sz="18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Inter"/>
              </a:rPr>
              <a:t>herramientas</a:t>
            </a:r>
            <a:r>
              <a:rPr sz="1800" b="0" i="0" u="none" dirty="0">
                <a:solidFill>
                  <a:srgbClr val="94A3B8"/>
                </a:solidFill>
                <a:latin typeface="Inter"/>
              </a:rPr>
              <a:t> de </a:t>
            </a:r>
            <a:r>
              <a:rPr sz="1800" b="0" i="0" u="none" dirty="0" err="1">
                <a:solidFill>
                  <a:srgbClr val="94A3B8"/>
                </a:solidFill>
                <a:latin typeface="Inter"/>
              </a:rPr>
              <a:t>monitoreo</a:t>
            </a:r>
            <a:r>
              <a:rPr sz="1800" b="0" i="0" u="none" dirty="0">
                <a:solidFill>
                  <a:srgbClr val="94A3B8"/>
                </a:solidFill>
                <a:latin typeface="Inter"/>
              </a:rPr>
              <a:t>, </a:t>
            </a:r>
            <a:r>
              <a:rPr sz="1800" b="0" i="0" u="none" dirty="0" err="1">
                <a:solidFill>
                  <a:srgbClr val="94A3B8"/>
                </a:solidFill>
                <a:latin typeface="Inter"/>
              </a:rPr>
              <a:t>automatización</a:t>
            </a:r>
            <a:r>
              <a:rPr sz="1800" b="0" i="0" u="none" dirty="0">
                <a:solidFill>
                  <a:srgbClr val="94A3B8"/>
                </a:solidFill>
                <a:latin typeface="Inter"/>
              </a:rPr>
              <a:t> y control de </a:t>
            </a:r>
            <a:r>
              <a:rPr sz="1800" b="0" i="0" u="none" dirty="0" err="1">
                <a:solidFill>
                  <a:srgbClr val="94A3B8"/>
                </a:solidFill>
                <a:latin typeface="Inter"/>
              </a:rPr>
              <a:t>versiones</a:t>
            </a:r>
            <a:r>
              <a:rPr sz="1800" b="0" i="0" u="none" dirty="0">
                <a:solidFill>
                  <a:srgbClr val="94A3B8"/>
                </a:solidFill>
                <a:latin typeface="Inter"/>
              </a:rPr>
              <a:t> para </a:t>
            </a:r>
            <a:r>
              <a:rPr sz="1800" b="0" i="0" u="none" dirty="0" err="1">
                <a:solidFill>
                  <a:srgbClr val="94A3B8"/>
                </a:solidFill>
                <a:latin typeface="Inter"/>
              </a:rPr>
              <a:t>mejorar</a:t>
            </a:r>
            <a:r>
              <a:rPr sz="1800" b="0" i="0" u="none" dirty="0">
                <a:solidFill>
                  <a:srgbClr val="94A3B8"/>
                </a:solidFill>
                <a:latin typeface="Inter"/>
              </a:rPr>
              <a:t> la </a:t>
            </a:r>
            <a:r>
              <a:rPr sz="1800" b="0" i="0" u="none" dirty="0" err="1">
                <a:solidFill>
                  <a:srgbClr val="94A3B8"/>
                </a:solidFill>
                <a:latin typeface="Inter"/>
              </a:rPr>
              <a:t>operación</a:t>
            </a:r>
            <a:r>
              <a:rPr sz="1800" b="0" i="0" u="none" dirty="0">
                <a:solidFill>
                  <a:srgbClr val="94A3B8"/>
                </a:solidFill>
                <a:latin typeface="Inter"/>
              </a:rPr>
              <a:t> del </a:t>
            </a:r>
            <a:r>
              <a:rPr sz="1800" b="0" i="0" u="none" dirty="0" err="1">
                <a:solidFill>
                  <a:srgbClr val="94A3B8"/>
                </a:solidFill>
                <a:latin typeface="Inter"/>
              </a:rPr>
              <a:t>modelo</a:t>
            </a:r>
            <a:r>
              <a:rPr sz="1800" b="0" i="0" u="none" dirty="0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245E1C-CB02-19EC-FF72-E06D38D9554D}"/>
              </a:ext>
            </a:extLst>
          </p:cNvPr>
          <p:cNvSpPr txBox="1"/>
          <p:nvPr/>
        </p:nvSpPr>
        <p:spPr>
          <a:xfrm>
            <a:off x="1809750" y="6409387"/>
            <a:ext cx="8572500" cy="339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s-MX" sz="1800" b="0" i="0" u="none" dirty="0">
                <a:solidFill>
                  <a:srgbClr val="94A3B8"/>
                </a:solidFill>
                <a:latin typeface="Inter"/>
              </a:rPr>
              <a:t>Christian Oswaldo Ortiz Rodríguez</a:t>
            </a:r>
            <a:endParaRPr sz="18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824037"/>
            <a:ext cx="5238750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603599"/>
            <a:ext cx="52387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Las redes generan grandes cantidades de tráfico y detectar ataques manualmente puede ser un proceso extremadamente lento y propenso a errores.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799582"/>
            <a:ext cx="523875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Por ello, se desarrolló un modelo capaz de clasificar automáticamente el tráfico como </a:t>
            </a:r>
            <a:r>
              <a:rPr sz="1650" b="1" i="0" u="none">
                <a:solidFill>
                  <a:srgbClr val="CBD5E1"/>
                </a:solidFill>
                <a:latin typeface="Inter"/>
              </a:rPr>
              <a:t>benigno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o </a:t>
            </a:r>
            <a:r>
              <a:rPr sz="1650" b="1" i="0" u="none">
                <a:solidFill>
                  <a:srgbClr val="CBD5E1"/>
                </a:solidFill>
                <a:latin typeface="Inter"/>
              </a:rPr>
              <a:t>posible ataque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, permitiendo una reacción inmediata ante incidentes de ciberseguridad.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833562"/>
            <a:ext cx="5219700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Space Grotesk"/>
              </a:rPr>
              <a:t>¿Qué problema resuelve?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809750" y="1647825"/>
            <a:ext cx="8572500" cy="792360"/>
          </a:xfrm>
          <a:prstGeom prst="roundRect">
            <a:avLst>
              <a:gd name="adj" fmla="val 961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28875" y="1876425"/>
            <a:ext cx="77247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Inter SemiBold"/>
              </a:rPr>
              <a:t>Modelo Random Forest: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Algoritmo de clasificación de Machine Learning.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9750" y="1647825"/>
            <a:ext cx="38100" cy="7923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09750" y="2668785"/>
            <a:ext cx="8572500" cy="792360"/>
          </a:xfrm>
          <a:prstGeom prst="roundRect">
            <a:avLst>
              <a:gd name="adj" fmla="val 961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28875" y="2897385"/>
            <a:ext cx="77247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Inter SemiBold"/>
              </a:rPr>
              <a:t>API desarrollada con FastAPI: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Interfaz moderna para consumir el modelo.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9750" y="2668785"/>
            <a:ext cx="38100" cy="7923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809750" y="3689746"/>
            <a:ext cx="8572500" cy="792360"/>
          </a:xfrm>
          <a:prstGeom prst="roundRect">
            <a:avLst>
              <a:gd name="adj" fmla="val 961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28875" y="3918346"/>
            <a:ext cx="77247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>
                <a:solidFill>
                  <a:srgbClr val="F8FAFC"/>
                </a:solidFill>
                <a:latin typeface="Inter SemiBold"/>
              </a:rPr>
              <a:t>Docker para el despliegue: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Contenedores para asegurar la portabilidad.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9750" y="3689746"/>
            <a:ext cx="38100" cy="7923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809750" y="4710707"/>
            <a:ext cx="8572500" cy="792360"/>
          </a:xfrm>
          <a:prstGeom prst="roundRect">
            <a:avLst>
              <a:gd name="adj" fmla="val 961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28875" y="4939307"/>
            <a:ext cx="77247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Inter SemiBold"/>
              </a:rPr>
              <a:t>MLflow para registrar métricas: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Seguimiento y trazabilidad del modelo.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09750" y="4710707"/>
            <a:ext cx="38100" cy="7923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809750" y="5731668"/>
            <a:ext cx="8572500" cy="792360"/>
          </a:xfrm>
          <a:prstGeom prst="roundRect">
            <a:avLst>
              <a:gd name="adj" fmla="val 961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28875" y="5960268"/>
            <a:ext cx="77247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>
                <a:solidFill>
                  <a:srgbClr val="F8FAFC"/>
                </a:solidFill>
                <a:latin typeface="Inter SemiBold"/>
              </a:rPr>
              <a:t>GitHub y GitHub Actions: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Automatización y control de versiones del proyecto.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9750" y="5731668"/>
            <a:ext cx="38100" cy="7923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350" y="1890712"/>
            <a:ext cx="314325" cy="2571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8350" y="2911673"/>
            <a:ext cx="314325" cy="2571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8350" y="3932634"/>
            <a:ext cx="314325" cy="2571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8350" y="4953595"/>
            <a:ext cx="276225" cy="2571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8350" y="5974556"/>
            <a:ext cx="238125" cy="2571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Space Grotesk"/>
              </a:rPr>
              <a:t>Solución implementada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1647825"/>
            <a:ext cx="11049000" cy="6510337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1647825"/>
          <a:ext cx="11029949" cy="6510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0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9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337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6B6D4"/>
                          </a:solidFill>
                          <a:latin typeface="Space Grotesk"/>
                        </a:rPr>
                        <a:t>Tecnología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6B6D4"/>
                          </a:solidFill>
                          <a:latin typeface="Space Grotesk"/>
                        </a:rPr>
                        <a:t>Uso en el Proyecto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370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CBD5E1"/>
                          </a:solidFill>
                          <a:latin typeface="Inter"/>
                        </a:rPr>
                        <a:t>Python</a:t>
                      </a:r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 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Desarrollo general del proyecto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370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CBD5E1"/>
                          </a:solidFill>
                          <a:latin typeface="Inter"/>
                        </a:rPr>
                        <a:t>Scikit-learn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Entrenamiento y validación del Modelo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370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CBD5E1"/>
                          </a:solidFill>
                          <a:latin typeface="Inter"/>
                        </a:rPr>
                        <a:t>FastAPI</a:t>
                      </a:r>
                    </a:p>
                  </a:txBody>
                  <a:tcPr marL="3238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Creación de la API para las predicciones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370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CBD5E1"/>
                          </a:solidFill>
                          <a:latin typeface="Inter"/>
                        </a:rPr>
                        <a:t>Docker</a:t>
                      </a:r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 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Contenedor de la aplicación y dependencias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370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CBD5E1"/>
                          </a:solidFill>
                          <a:latin typeface="Inter"/>
                        </a:rPr>
                        <a:t>MLflow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Monitoreo constante del modelo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3370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CBD5E1"/>
                          </a:solidFill>
                          <a:latin typeface="Inter"/>
                        </a:rPr>
                        <a:t>GitHub</a:t>
                      </a:r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 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Versionado de código y colaboración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3370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CBD5E1"/>
                          </a:solidFill>
                          <a:latin typeface="Inter"/>
                        </a:rPr>
                        <a:t>GitHub Actions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Pipeline automatizado (CI/CD)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23377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CBD5E1"/>
                          </a:solidFill>
                          <a:latin typeface="Inter"/>
                        </a:rPr>
                        <a:t>AWS</a:t>
                      </a:r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 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Propuesta de arquitectura y despliegue en nube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343150"/>
            <a:ext cx="386045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441477" y="2343150"/>
            <a:ext cx="716949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3068835"/>
            <a:ext cx="386045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41477" y="3068835"/>
            <a:ext cx="716949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3794521"/>
            <a:ext cx="386045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41477" y="3794521"/>
            <a:ext cx="716949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4520207"/>
            <a:ext cx="386045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41477" y="4520207"/>
            <a:ext cx="716949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5245893"/>
            <a:ext cx="386045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41477" y="5245893"/>
            <a:ext cx="716949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1025" y="5971579"/>
            <a:ext cx="386045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41477" y="5971579"/>
            <a:ext cx="716949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6697265"/>
            <a:ext cx="386045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41477" y="6697265"/>
            <a:ext cx="716949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1025" y="7422951"/>
            <a:ext cx="386045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41477" y="7422951"/>
            <a:ext cx="716949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025" y="4099321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825" y="2600325"/>
            <a:ext cx="180975" cy="2095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025" y="4099321"/>
            <a:ext cx="13335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0" y="4777382"/>
            <a:ext cx="266700" cy="2095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8300" y="6228754"/>
            <a:ext cx="200025" cy="2095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8750" y="7680126"/>
            <a:ext cx="266700" cy="2095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Space Grotesk"/>
              </a:rPr>
              <a:t>Tecnologías utilizadas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47825"/>
            <a:ext cx="93440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La implementación de esta solución de IA aporta valor directo a la operación de ciberseguridad: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173485"/>
            <a:ext cx="9344025" cy="792360"/>
          </a:xfrm>
          <a:prstGeom prst="roundRect">
            <a:avLst>
              <a:gd name="adj" fmla="val 961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90625" y="2402085"/>
            <a:ext cx="84963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Detectar posibles ataques de forma automática.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2173485"/>
            <a:ext cx="38100" cy="7923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71500" y="3194446"/>
            <a:ext cx="9344025" cy="792360"/>
          </a:xfrm>
          <a:prstGeom prst="roundRect">
            <a:avLst>
              <a:gd name="adj" fmla="val 961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90625" y="3423046"/>
            <a:ext cx="84963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Reducir significativamente el tiempo de análisis.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3194446"/>
            <a:ext cx="38100" cy="7923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71500" y="4215407"/>
            <a:ext cx="9344025" cy="792360"/>
          </a:xfrm>
          <a:prstGeom prst="roundRect">
            <a:avLst>
              <a:gd name="adj" fmla="val 961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90625" y="4444007"/>
            <a:ext cx="84963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Facilitar el monitoreo del modelo y su rendimiento.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215407"/>
            <a:ext cx="38100" cy="7923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71500" y="5236368"/>
            <a:ext cx="9344025" cy="792360"/>
          </a:xfrm>
          <a:prstGeom prst="roundRect">
            <a:avLst>
              <a:gd name="adj" fmla="val 961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90625" y="5464968"/>
            <a:ext cx="84963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Mantener un control de versiones estricto (GitOps).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5236368"/>
            <a:ext cx="38100" cy="7923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71500" y="6257329"/>
            <a:ext cx="9344025" cy="792360"/>
          </a:xfrm>
          <a:prstGeom prst="roundRect">
            <a:avLst>
              <a:gd name="adj" fmla="val 961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90625" y="6485929"/>
            <a:ext cx="84963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Preparar la aplicación para un despliegue escalable.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6257329"/>
            <a:ext cx="38100" cy="7923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416373"/>
            <a:ext cx="314325" cy="2571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437334"/>
            <a:ext cx="247650" cy="2571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4458295"/>
            <a:ext cx="276225" cy="2571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5479256"/>
            <a:ext cx="219075" cy="2571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6500217"/>
            <a:ext cx="276225" cy="2571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Space Grotesk"/>
              </a:rPr>
              <a:t>Valor de Negocio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47825"/>
            <a:ext cx="92487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Para evolucionar el sistema hacia un entorno de producción de alta disponibilidad, se propone: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173485"/>
            <a:ext cx="9248775" cy="792360"/>
          </a:xfrm>
          <a:prstGeom prst="roundRect">
            <a:avLst>
              <a:gd name="adj" fmla="val 961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90625" y="2402085"/>
            <a:ext cx="84010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Reentrenar el modelo periódicamente con nuevos datos.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2173485"/>
            <a:ext cx="38100" cy="7923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71500" y="3194446"/>
            <a:ext cx="9248775" cy="792360"/>
          </a:xfrm>
          <a:prstGeom prst="roundRect">
            <a:avLst>
              <a:gd name="adj" fmla="val 961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90625" y="3423046"/>
            <a:ext cx="84010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Implementar políticas de autoescalado en AWS.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3194446"/>
            <a:ext cx="38100" cy="7923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71500" y="4215407"/>
            <a:ext cx="9248775" cy="792360"/>
          </a:xfrm>
          <a:prstGeom prst="roundRect">
            <a:avLst>
              <a:gd name="adj" fmla="val 961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90625" y="4444007"/>
            <a:ext cx="84010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Incorporar monitoreo en tiempo real con dashboards dedicados.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215407"/>
            <a:ext cx="38100" cy="7923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71500" y="5236368"/>
            <a:ext cx="9248775" cy="792360"/>
          </a:xfrm>
          <a:prstGeom prst="roundRect">
            <a:avLst>
              <a:gd name="adj" fmla="val 961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90625" y="5464968"/>
            <a:ext cx="84010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Mejorar la detección y mitigación de </a:t>
            </a:r>
            <a:r>
              <a:rPr sz="1650" b="0" i="1" u="none">
                <a:solidFill>
                  <a:srgbClr val="CBD5E1"/>
                </a:solidFill>
                <a:latin typeface="Inter"/>
              </a:rPr>
              <a:t>Data Drift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5236368"/>
            <a:ext cx="38100" cy="7923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416373"/>
            <a:ext cx="219075" cy="2571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437334"/>
            <a:ext cx="152400" cy="2571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4458295"/>
            <a:ext cx="219075" cy="2571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5479256"/>
            <a:ext cx="247650" cy="2571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Space Grotesk"/>
              </a:rPr>
              <a:t>Mejoras Futuras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47825"/>
            <a:ext cx="11049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Este proyecto permitió aplicar conceptos avanzados de </a:t>
            </a:r>
            <a:r>
              <a:rPr sz="1650" b="1" i="0" u="none">
                <a:solidFill>
                  <a:srgbClr val="CBD5E1"/>
                </a:solidFill>
                <a:latin typeface="Inter"/>
              </a:rPr>
              <a:t>Machine Learning, MLOps y GitOps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para desarrollar una solución organizada y profesional, apta para un entorno real.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508646"/>
            <a:ext cx="11049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La integración de herramientas como </a:t>
            </a:r>
            <a:r>
              <a:rPr sz="1650" b="0" i="1" u="none">
                <a:solidFill>
                  <a:srgbClr val="CBD5E1"/>
                </a:solidFill>
                <a:latin typeface="Inter"/>
              </a:rPr>
              <a:t>MLflow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, </a:t>
            </a:r>
            <a:r>
              <a:rPr sz="1650" b="0" i="1" u="none">
                <a:solidFill>
                  <a:srgbClr val="CBD5E1"/>
                </a:solidFill>
                <a:latin typeface="Inter"/>
              </a:rPr>
              <a:t>Docker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y </a:t>
            </a:r>
            <a:r>
              <a:rPr sz="1650" b="0" i="1" u="none">
                <a:solidFill>
                  <a:srgbClr val="CBD5E1"/>
                </a:solidFill>
                <a:latin typeface="Inter"/>
              </a:rPr>
              <a:t>GitHub Actions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ha sido fundamental para crear un sistema automatizado, trazable y fácil de mantener a largo plazo.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559968"/>
            <a:ext cx="11049000" cy="305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1" u="none" dirty="0">
                <a:solidFill>
                  <a:srgbClr val="06B6D4"/>
                </a:solidFill>
                <a:latin typeface="Inter"/>
              </a:rPr>
              <a:t>¡Gracias </a:t>
            </a:r>
            <a:r>
              <a:rPr sz="1650" b="0" i="1" u="none" dirty="0" err="1">
                <a:solidFill>
                  <a:srgbClr val="06B6D4"/>
                </a:solidFill>
                <a:latin typeface="Inter"/>
              </a:rPr>
              <a:t>por</a:t>
            </a:r>
            <a:r>
              <a:rPr sz="1650" b="0" i="1" u="none" dirty="0">
                <a:solidFill>
                  <a:srgbClr val="06B6D4"/>
                </a:solidFill>
                <a:latin typeface="Inter"/>
              </a:rPr>
              <a:t> </a:t>
            </a:r>
            <a:r>
              <a:rPr sz="1650" b="0" i="1" u="none" dirty="0" err="1">
                <a:solidFill>
                  <a:srgbClr val="06B6D4"/>
                </a:solidFill>
                <a:latin typeface="Inter"/>
              </a:rPr>
              <a:t>su</a:t>
            </a:r>
            <a:r>
              <a:rPr sz="1650" b="0" i="1" u="none" dirty="0">
                <a:solidFill>
                  <a:srgbClr val="06B6D4"/>
                </a:solidFill>
                <a:latin typeface="Inter"/>
              </a:rPr>
              <a:t> </a:t>
            </a:r>
            <a:r>
              <a:rPr sz="1650" b="0" i="1" u="none" dirty="0" err="1">
                <a:solidFill>
                  <a:srgbClr val="06B6D4"/>
                </a:solidFill>
                <a:latin typeface="Inter"/>
              </a:rPr>
              <a:t>atención</a:t>
            </a:r>
            <a:r>
              <a:rPr sz="1650" b="0" i="1" u="none" dirty="0">
                <a:solidFill>
                  <a:srgbClr val="06B6D4"/>
                </a:solidFill>
                <a:latin typeface="Inter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Space Grotesk"/>
              </a:rPr>
              <a:t>Conclusión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406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Inter</vt:lpstr>
      <vt:lpstr>Inter SemiBold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Regina Fabian Ortiz Lopez</cp:lastModifiedBy>
  <cp:revision>1</cp:revision>
  <dcterms:created xsi:type="dcterms:W3CDTF">2013-01-27T09:14:16Z</dcterms:created>
  <dcterms:modified xsi:type="dcterms:W3CDTF">2026-08-03T04:35:55Z</dcterms:modified>
  <cp:category/>
</cp:coreProperties>
</file>